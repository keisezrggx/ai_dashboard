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2AA97-B309-400B-9DDE-FD0E1F4C0F8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D33E68-1A8B-4255-A027-7AC9E8899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0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METHOD</a:t>
            </a:r>
          </a:p>
          <a:p>
            <a:r>
              <a:rPr lang="en-US"/>
              <a:t>99 usable observations from 100 CSV records; record 80 has no observation.</a:t>
            </a:r>
          </a:p>
          <a:p>
            <a:r>
              <a:rPr lang="en-US"/>
              <a:t>28 explicit improvement recommendations; 58 explicitly positive/no recommendation; 13 other usable observations.</a:t>
            </a:r>
          </a:p>
          <a:p>
            <a:r>
              <a:rPr lang="en-US"/>
              <a:t>Themes are mutually exclusive, manually grouped from observation and recommendation text. Counts are recommendation frequencies, not failure rates or production prevalence.</a:t>
            </a:r>
          </a:p>
          <a:p>
            <a:r>
              <a:rPr lang="en-US"/>
              <a:t>Theme 1 (17): 4,31,33,38,39,40,48,49,55,69,82,83,86,87,96,98,100.</a:t>
            </a:r>
          </a:p>
          <a:p>
            <a:r>
              <a:rPr lang="en-US"/>
              <a:t>Theme 2 (8): 1,7,10,13,26,29,30,72.</a:t>
            </a:r>
          </a:p>
          <a:p>
            <a:r>
              <a:rPr lang="en-US"/>
              <a:t>Other (3): 8,9,35. Combined: 25/28 = 89.2857%.</a:t>
            </a:r>
          </a:p>
          <a:p>
            <a:r>
              <a:rPr lang="en-US"/>
              <a:t>Includes enhancements, not only confirmed defects. Record 72 initially passes but requests better confirmation handling.</a:t>
            </a:r>
          </a:p>
          <a:p>
            <a:r>
              <a:rPr lang="en-US"/>
              <a:t>Record 27 reports a refund limitation without a recommendation; excluded from the 28-record ranking.</a:t>
            </a:r>
          </a:p>
          <a:p>
            <a:r>
              <a:rPr lang="en-US"/>
              <a:t>All Priority and Result fields are blank. Priority here is analytical judgment based on recurrence and customer impact.</a:t>
            </a:r>
          </a:p>
          <a:p>
            <a:r>
              <a:rPr lang="en-US"/>
              <a:t>Validate competitor-inspired suggestions against approved Akulaku policies.</a:t>
            </a:r>
          </a:p>
          <a:p>
            <a:r>
              <a:rPr lang="en-US"/>
              <a:t>Separate follow-up: record 9 reports scope-guardrail inconsistency; this is not proof of data leakage or a security exploit.</a:t>
            </a:r>
          </a:p>
          <a:p>
            <a:r>
              <a:rPr lang="en-US"/>
              <a:t>Regression evidence: mobile-credit guidance succeeds in 17 but fails in 33; electricity-token guidance succeeds in 20 but fails in 39.</a:t>
            </a:r>
          </a:p>
          <a:p>
            <a:r>
              <a:rPr lang="en-US"/>
              <a:t>DESIGN</a:t>
            </a:r>
          </a:p>
          <a:p>
            <a:r>
              <a:rPr lang="en-US"/>
              <a:t>Supplied reference determines red/blush/white palette and reused Akulaku logo. Arial supports readable presentation text. Large numerals expose denominators; ranked rows give recommendation sequence. Spacious white background replaces title-slide artwork to preserve data readability. ENERGY 1 / RHYTHM 1 / MOTION 1. Static slide; no interactive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33E68-1A8B-4255-A027-7AC9E8899A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04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D0CD6-96B4-9CC0-D746-25357CF86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20398-048B-C8E4-7636-6B7C5E48D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CBB93-36B0-98A5-F584-9D5499CB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10ED1-7BD8-1A06-1D4A-9C84E981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D979C-27FD-60EB-A3F4-1D539445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13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283D-0FD5-310E-E0A1-43B7A0BC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704C8-8463-EDF3-A814-F10D2FE02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40960-0CEB-0EAC-9270-C34771A5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93301-7A4C-18E3-826F-376A77973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EACE8-858D-4175-889C-AD525D33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91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3BAD-5EEF-AE8F-6BFE-D143B5F46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B1CA8-4D63-FD06-111A-55081F1F3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5D127-DEE9-FC22-4200-3B08DFF37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F201B-5EF8-6E2E-F2D3-FBE5E71E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5C19-7D77-FA34-2CBD-0E142FFF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C21F-075D-690F-5D6D-2EBD70D55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2702F-A935-29B3-E695-3C38DF9DBD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79379-79F7-EA83-ABD7-34D848FB5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5585F-6578-CAF6-58BC-0A10270E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A3E26-0D4D-675C-4006-027B2D2B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C1FF8-87E1-EE0A-819A-41D44EFF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22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CF57-9B4D-42C4-80EE-D9EC1235E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0A8AB-19EF-6A29-26D2-0147D479D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1A6E7-32B2-BE2B-FE63-8CB54CCD0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AB97A-033B-AE63-F3E8-F953653EF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7D09BC-A852-7D86-C322-FEDC68C5D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1905D-29BA-C3A0-6788-D502A2DF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45F0BE-2C8C-15ED-5B14-A9A41D7E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8BFFA-41DA-BE5C-C52C-D1A727C6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50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9751-2BFF-30CE-E519-0B9E44BE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AA0F7-43A9-5D95-6003-B1FB445F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7D665-0D4D-E180-6AF4-BAFEE18C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3D254-95C5-0EF0-2E14-A2F061DC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41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62EC87-C090-5EC7-13BB-0239EB3C7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53FE80-C8B4-BF88-6A59-66B2015E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3BD81-C748-7E07-39E5-E3D95E49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1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7FC1-FAA2-D7F9-6491-D5BDF7E2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C5A2F-09C5-F734-460F-5C14D3C94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56C07-7B6E-BC6D-4FDC-A1E91E0DF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6FF51-FDD3-038F-377A-04927BFE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C2915-6C8B-773B-0F55-514794CE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4387A-FC7B-AD38-292D-F1FD367C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6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517F3-B59C-1703-C29A-9DA86CCD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4260E-F7DE-AE58-52A7-8C3EBCF61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03F4A-47E4-B2BD-0C3E-0B809C932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B5BEB-1750-904E-7109-37752DA6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8E243-F33E-915F-F289-A3B6088D8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A947E-2541-1311-638D-12934F48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24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3A65-4AF5-05E7-ED2F-1BD27531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1C6A5-B0C9-CE29-1473-77E59F537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3C273-9E9B-C109-EFFC-777576961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F50CF-2070-97F3-F1BC-59D8DC19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22449-22D0-5560-D9FC-9EC23C04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6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A8DF8-64AC-476B-74DD-27DEA92A9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933F0-2C0E-EC35-A7A6-5E18068EC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5F668-C04A-26F9-5ACF-F871D002F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1290D-DD52-5611-1C04-AEDB5731D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60599-837F-0BD7-58B7-E79E0B50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97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53F301-A3CD-A9F7-1D56-41DFB6CB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C083D-C53D-91B0-DCB5-2CDAF77F4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7A11-F686-E55E-F5D0-69EC0268D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429EB-7936-4749-871A-E2194220321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9DF9E-243B-1C8B-DB44-032783153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7143D-F7AE-E687-1BFC-9BFE0D0ED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EF8A8-CB8B-4F8A-819E-C4B9F0438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57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A785F4-0244-D7AA-6650-2CB939E33D5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700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FADD0F-EADE-B4F2-1FDF-86EF9A19BDE4}"/>
              </a:ext>
            </a:extLst>
          </p:cNvPr>
          <p:cNvSpPr/>
          <p:nvPr/>
        </p:nvSpPr>
        <p:spPr>
          <a:xfrm>
            <a:off x="152400" y="0"/>
            <a:ext cx="635000" cy="101600"/>
          </a:xfrm>
          <a:prstGeom prst="rect">
            <a:avLst/>
          </a:prstGeom>
          <a:solidFill>
            <a:srgbClr val="E700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12179-F6E4-9F6A-ECAE-A4BDE865EEE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100" y="279400"/>
            <a:ext cx="1333500" cy="53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93562D-2B11-CF8D-0267-2E676595E4AA}"/>
              </a:ext>
            </a:extLst>
          </p:cNvPr>
          <p:cNvSpPr txBox="1"/>
          <p:nvPr/>
        </p:nvSpPr>
        <p:spPr>
          <a:xfrm>
            <a:off x="508000" y="355600"/>
            <a:ext cx="914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676060"/>
                </a:solidFill>
                <a:latin typeface="Arial" panose="020B0604020202020204" pitchFamily="34" charset="0"/>
              </a:rPr>
              <a:t>Live Chat Testing | Customer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6AE24-08E8-C74C-6070-6FA47251FA5B}"/>
              </a:ext>
            </a:extLst>
          </p:cNvPr>
          <p:cNvSpPr txBox="1"/>
          <p:nvPr/>
        </p:nvSpPr>
        <p:spPr>
          <a:xfrm>
            <a:off x="508000" y="787400"/>
            <a:ext cx="11112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231918"/>
                </a:solidFill>
                <a:latin typeface="Arial" panose="020B0604020202020204" pitchFamily="34" charset="0"/>
              </a:rPr>
              <a:t>Two priorities cover 89.3% of recommendations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FAAD5-EAB7-6F14-9456-E5174374A911}"/>
              </a:ext>
            </a:extLst>
          </p:cNvPr>
          <p:cNvSpPr txBox="1"/>
          <p:nvPr/>
        </p:nvSpPr>
        <p:spPr>
          <a:xfrm>
            <a:off x="508000" y="1384300"/>
            <a:ext cx="889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76060"/>
                </a:solidFill>
                <a:latin typeface="Arial" panose="020B0604020202020204" pitchFamily="34" charset="0"/>
              </a:rPr>
              <a:t>Kula chatbot  /  19-22 October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273E4E-B97F-4FC1-752C-E3C798E9F3F4}"/>
              </a:ext>
            </a:extLst>
          </p:cNvPr>
          <p:cNvSpPr/>
          <p:nvPr/>
        </p:nvSpPr>
        <p:spPr>
          <a:xfrm>
            <a:off x="508000" y="1841500"/>
            <a:ext cx="11176000" cy="1257300"/>
          </a:xfrm>
          <a:prstGeom prst="rect">
            <a:avLst/>
          </a:prstGeom>
          <a:solidFill>
            <a:srgbClr val="FCED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0D10A5-176F-37F1-2DC4-3854AA82FD77}"/>
              </a:ext>
            </a:extLst>
          </p:cNvPr>
          <p:cNvSpPr txBox="1"/>
          <p:nvPr/>
        </p:nvSpPr>
        <p:spPr>
          <a:xfrm>
            <a:off x="736600" y="1981200"/>
            <a:ext cx="1270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800" b="1">
                <a:solidFill>
                  <a:srgbClr val="231918"/>
                </a:solidFill>
                <a:latin typeface="Arial" panose="020B0604020202020204" pitchFamily="34" charset="0"/>
              </a:rPr>
              <a:t>99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FCCF73-505D-2B41-9048-1A005D49C6E5}"/>
              </a:ext>
            </a:extLst>
          </p:cNvPr>
          <p:cNvSpPr txBox="1"/>
          <p:nvPr/>
        </p:nvSpPr>
        <p:spPr>
          <a:xfrm>
            <a:off x="736600" y="2679700"/>
            <a:ext cx="234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76060"/>
                </a:solidFill>
                <a:latin typeface="Arial" panose="020B0604020202020204" pitchFamily="34" charset="0"/>
              </a:rPr>
              <a:t>usable observations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978D26-6FC2-3601-3428-E1413358F8CF}"/>
              </a:ext>
            </a:extLst>
          </p:cNvPr>
          <p:cNvSpPr txBox="1"/>
          <p:nvPr/>
        </p:nvSpPr>
        <p:spPr>
          <a:xfrm>
            <a:off x="3429000" y="1981200"/>
            <a:ext cx="1270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800" b="1">
                <a:solidFill>
                  <a:srgbClr val="231918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BDFAF8-49C4-BB46-EAF0-916F8A7DAF9F}"/>
              </a:ext>
            </a:extLst>
          </p:cNvPr>
          <p:cNvSpPr txBox="1"/>
          <p:nvPr/>
        </p:nvSpPr>
        <p:spPr>
          <a:xfrm>
            <a:off x="3429000" y="26797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76060"/>
                </a:solidFill>
                <a:latin typeface="Arial" panose="020B0604020202020204" pitchFamily="34" charset="0"/>
              </a:rPr>
              <a:t>improvement recommendations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F1E90D-D312-FAA4-1E98-5372655E7EF7}"/>
              </a:ext>
            </a:extLst>
          </p:cNvPr>
          <p:cNvSpPr/>
          <p:nvPr/>
        </p:nvSpPr>
        <p:spPr>
          <a:xfrm>
            <a:off x="6616700" y="2070100"/>
            <a:ext cx="12700" cy="800100"/>
          </a:xfrm>
          <a:prstGeom prst="rect">
            <a:avLst/>
          </a:prstGeom>
          <a:solidFill>
            <a:srgbClr val="E6DD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37134E-AC08-DEEE-A9B3-C1423710590E}"/>
              </a:ext>
            </a:extLst>
          </p:cNvPr>
          <p:cNvSpPr txBox="1"/>
          <p:nvPr/>
        </p:nvSpPr>
        <p:spPr>
          <a:xfrm>
            <a:off x="6959600" y="1981200"/>
            <a:ext cx="2286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800" b="1">
                <a:solidFill>
                  <a:srgbClr val="E70012"/>
                </a:solidFill>
                <a:latin typeface="Arial" panose="020B0604020202020204" pitchFamily="34" charset="0"/>
              </a:rPr>
              <a:t>25/28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4E91AC-F571-E9B7-D6C7-206C93DFCD4B}"/>
              </a:ext>
            </a:extLst>
          </p:cNvPr>
          <p:cNvSpPr txBox="1"/>
          <p:nvPr/>
        </p:nvSpPr>
        <p:spPr>
          <a:xfrm>
            <a:off x="6959600" y="2679700"/>
            <a:ext cx="368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76060"/>
                </a:solidFill>
                <a:latin typeface="Arial" panose="020B0604020202020204" pitchFamily="34" charset="0"/>
              </a:rPr>
              <a:t>covered by top two priorities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9F595A-78BD-F005-000C-12D5BC6AEFA5}"/>
              </a:ext>
            </a:extLst>
          </p:cNvPr>
          <p:cNvSpPr txBox="1"/>
          <p:nvPr/>
        </p:nvSpPr>
        <p:spPr>
          <a:xfrm>
            <a:off x="508000" y="3390900"/>
            <a:ext cx="571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E70012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D875E7-8FF0-ADFB-6278-41B4029CE5FE}"/>
              </a:ext>
            </a:extLst>
          </p:cNvPr>
          <p:cNvSpPr txBox="1"/>
          <p:nvPr/>
        </p:nvSpPr>
        <p:spPr>
          <a:xfrm>
            <a:off x="1219200" y="3340100"/>
            <a:ext cx="762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231918"/>
                </a:solidFill>
                <a:latin typeface="Arial" panose="020B0604020202020204" pitchFamily="34" charset="0"/>
              </a:rPr>
              <a:t>Answer relevance &amp; FAQ handling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62931E-45A1-C77B-8A38-4BC847B0C8C2}"/>
              </a:ext>
            </a:extLst>
          </p:cNvPr>
          <p:cNvSpPr txBox="1"/>
          <p:nvPr/>
        </p:nvSpPr>
        <p:spPr>
          <a:xfrm>
            <a:off x="9702800" y="3302000"/>
            <a:ext cx="76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E70012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3947E9-7555-8371-CD53-EB23EC51894C}"/>
              </a:ext>
            </a:extLst>
          </p:cNvPr>
          <p:cNvSpPr txBox="1"/>
          <p:nvPr/>
        </p:nvSpPr>
        <p:spPr>
          <a:xfrm>
            <a:off x="10553700" y="34163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231918"/>
                </a:solidFill>
                <a:latin typeface="Arial" panose="020B0604020202020204" pitchFamily="34" charset="0"/>
              </a:rPr>
              <a:t>60.7%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F15D2-5762-8E59-9571-5056B6D17D04}"/>
              </a:ext>
            </a:extLst>
          </p:cNvPr>
          <p:cNvSpPr txBox="1"/>
          <p:nvPr/>
        </p:nvSpPr>
        <p:spPr>
          <a:xfrm>
            <a:off x="1219200" y="3810000"/>
            <a:ext cx="825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676060"/>
                </a:solidFill>
                <a:latin typeface="Arial" panose="020B0604020202020204" pitchFamily="34" charset="0"/>
              </a:rPr>
              <a:t>Wrong / incomplete guidance; avoidable CS transfers.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FE66F-F3A9-AA6E-38F2-0FC804C4E607}"/>
              </a:ext>
            </a:extLst>
          </p:cNvPr>
          <p:cNvSpPr txBox="1"/>
          <p:nvPr/>
        </p:nvSpPr>
        <p:spPr>
          <a:xfrm>
            <a:off x="1219200" y="4178300"/>
            <a:ext cx="889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231918"/>
                </a:solidFill>
                <a:latin typeface="Arial" panose="020B0604020202020204" pitchFamily="34" charset="0"/>
              </a:rPr>
              <a:t>Fix first: refunds, cancellations and billing FAQs.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55BDEB-58C3-4BBA-D9B8-433159BD5AF4}"/>
              </a:ext>
            </a:extLst>
          </p:cNvPr>
          <p:cNvSpPr/>
          <p:nvPr/>
        </p:nvSpPr>
        <p:spPr>
          <a:xfrm>
            <a:off x="508000" y="4673600"/>
            <a:ext cx="11176000" cy="12700"/>
          </a:xfrm>
          <a:prstGeom prst="rect">
            <a:avLst/>
          </a:prstGeom>
          <a:solidFill>
            <a:srgbClr val="E6DD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B11D7C-470D-DCF8-08AB-033B8C2183A2}"/>
              </a:ext>
            </a:extLst>
          </p:cNvPr>
          <p:cNvSpPr txBox="1"/>
          <p:nvPr/>
        </p:nvSpPr>
        <p:spPr>
          <a:xfrm>
            <a:off x="508000" y="4914900"/>
            <a:ext cx="571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E70012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822A81-2A60-6CBF-2986-F66DD700B651}"/>
              </a:ext>
            </a:extLst>
          </p:cNvPr>
          <p:cNvSpPr txBox="1"/>
          <p:nvPr/>
        </p:nvSpPr>
        <p:spPr>
          <a:xfrm>
            <a:off x="1219200" y="4864100"/>
            <a:ext cx="825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231918"/>
                </a:solidFill>
                <a:latin typeface="Arial" panose="020B0604020202020204" pitchFamily="34" charset="0"/>
              </a:rPr>
              <a:t>Session context &amp; account visibility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9F8759-3D97-9F54-D497-06A332C004D9}"/>
              </a:ext>
            </a:extLst>
          </p:cNvPr>
          <p:cNvSpPr txBox="1"/>
          <p:nvPr/>
        </p:nvSpPr>
        <p:spPr>
          <a:xfrm>
            <a:off x="9702800" y="4826000"/>
            <a:ext cx="762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E70012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A0AB17-3869-1E4A-0EBA-6C751A91E390}"/>
              </a:ext>
            </a:extLst>
          </p:cNvPr>
          <p:cNvSpPr txBox="1"/>
          <p:nvPr/>
        </p:nvSpPr>
        <p:spPr>
          <a:xfrm>
            <a:off x="10553700" y="49403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231918"/>
                </a:solidFill>
                <a:latin typeface="Arial" panose="020B0604020202020204" pitchFamily="34" charset="0"/>
              </a:rPr>
              <a:t>28.6%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67C363-90D0-F241-031D-CAFB80344D24}"/>
              </a:ext>
            </a:extLst>
          </p:cNvPr>
          <p:cNvSpPr txBox="1"/>
          <p:nvPr/>
        </p:nvSpPr>
        <p:spPr>
          <a:xfrm>
            <a:off x="1219200" y="5334000"/>
            <a:ext cx="876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676060"/>
                </a:solidFill>
                <a:latin typeface="Arial" panose="020B0604020202020204" pitchFamily="34" charset="0"/>
              </a:rPr>
              <a:t>Lost order / product context; missing bill and limit details.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3D2205-991A-9E94-817E-7E2C12032A70}"/>
              </a:ext>
            </a:extLst>
          </p:cNvPr>
          <p:cNvSpPr txBox="1"/>
          <p:nvPr/>
        </p:nvSpPr>
        <p:spPr>
          <a:xfrm>
            <a:off x="1219200" y="5702300"/>
            <a:ext cx="927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231918"/>
                </a:solidFill>
                <a:latin typeface="Arial" panose="020B0604020202020204" pitchFamily="34" charset="0"/>
              </a:rPr>
              <a:t>Next: retain session state and retrieve live account data.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87A219-39F7-EBA2-E71A-9C053B11E778}"/>
              </a:ext>
            </a:extLst>
          </p:cNvPr>
          <p:cNvSpPr/>
          <p:nvPr/>
        </p:nvSpPr>
        <p:spPr>
          <a:xfrm>
            <a:off x="508000" y="6223000"/>
            <a:ext cx="11176000" cy="12700"/>
          </a:xfrm>
          <a:prstGeom prst="rect">
            <a:avLst/>
          </a:prstGeom>
          <a:solidFill>
            <a:srgbClr val="E6DD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DC9C0E-38F3-A672-C038-4F5C0DA265EC}"/>
              </a:ext>
            </a:extLst>
          </p:cNvPr>
          <p:cNvSpPr txBox="1"/>
          <p:nvPr/>
        </p:nvSpPr>
        <p:spPr>
          <a:xfrm>
            <a:off x="508000" y="6350000"/>
            <a:ext cx="1117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76060"/>
                </a:solidFill>
                <a:latin typeface="Arial" panose="020B0604020202020204" pitchFamily="34" charset="0"/>
              </a:rPr>
              <a:t>Basis: 28 explicit recommendations, manually grouped. Shares are not chatbot failure rates.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BF8CA7-CD50-AE26-15F9-8127F7703788}"/>
              </a:ext>
            </a:extLst>
          </p:cNvPr>
          <p:cNvSpPr txBox="1"/>
          <p:nvPr/>
        </p:nvSpPr>
        <p:spPr>
          <a:xfrm>
            <a:off x="508000" y="6578600"/>
            <a:ext cx="1117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676060"/>
                </a:solidFill>
                <a:latin typeface="Arial" panose="020B0604020202020204" pitchFamily="34" charset="0"/>
              </a:rPr>
              <a:t>Source: Live Chat Testing [Customer Service] - 2026.csv | 100 records; 1 without observation.</a:t>
            </a:r>
          </a:p>
        </p:txBody>
      </p:sp>
    </p:spTree>
    <p:extLst>
      <p:ext uri="{BB962C8B-B14F-4D97-AF65-F5344CB8AC3E}">
        <p14:creationId xmlns:p14="http://schemas.microsoft.com/office/powerpoint/2010/main" val="2073308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ozy prazuganda</dc:creator>
  <cp:lastModifiedBy>ozy prazuganda</cp:lastModifiedBy>
  <cp:revision>1</cp:revision>
  <dcterms:created xsi:type="dcterms:W3CDTF">2026-10-22T07:41:49Z</dcterms:created>
  <dcterms:modified xsi:type="dcterms:W3CDTF">2026-10-22T07:41:49Z</dcterms:modified>
</cp:coreProperties>
</file>